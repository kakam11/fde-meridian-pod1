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c_Logo_Black_Purpl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"/>
            <a:ext cx="201168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11887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Graphik"/>
              </a:rPr>
              <a:t>Reconciliation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84831"/>
            <a:ext cx="59436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Graphik"/>
              </a:rPr>
              <a:t>solution summary — from design to working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51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18180"/>
                </a:solidFill>
                <a:latin typeface="Graphik"/>
              </a:rPr>
              <a:t>PRJ-NS-7421  |  Northstar Civic Group  |  MSA-NS-2024-0418  |  Cycle 2026-04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54680"/>
            <a:ext cx="1170432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729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60073"/>
                </a:solidFill>
                <a:latin typeface="Graphik"/>
              </a:rPr>
              <a:t>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55064" y="3154680"/>
            <a:ext cx="1170432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31729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60073"/>
                </a:solidFill>
                <a:latin typeface="Graphik"/>
              </a:rPr>
              <a:t>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8648" y="3154680"/>
            <a:ext cx="1170432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31729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60073"/>
                </a:solidFill>
                <a:latin typeface="Graphik"/>
              </a:rPr>
              <a:t>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2232" y="3154680"/>
            <a:ext cx="1170432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31729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60073"/>
                </a:solidFill>
                <a:latin typeface="Graphik"/>
              </a:rPr>
              <a:t>Design decisions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85816" y="3154680"/>
            <a:ext cx="1170432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31729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60073"/>
                </a:solidFill>
                <a:latin typeface="Graphik"/>
              </a:rPr>
              <a:t>Edge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3154680"/>
            <a:ext cx="1170432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1729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60073"/>
                </a:solidFill>
                <a:latin typeface="Graphik"/>
              </a:rPr>
              <a:t>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2983" y="3154680"/>
            <a:ext cx="1170432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31729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60073"/>
                </a:solidFill>
                <a:latin typeface="Graphik"/>
              </a:rPr>
              <a:t>Tech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572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Pod 1  |  Meridian Atlas Partners  |  Hackathon Day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raphik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795528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An agentic pipeline that reads every backup document line by line, applies contract rules and institutional memory to classify and auto-resolve expense exceptions, and presents a pre-populated decision queue — so the analyst reviews only what the machine cannot decide.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977639" cy="29260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89888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Graphik"/>
              </a:rPr>
              <a:t>What the analyst does today — manually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09928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7099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Graphik"/>
              </a:rPr>
              <a:t>Verify every expense against its backup document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39112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0391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Graphik"/>
              </a:rPr>
              <a:t>Apply contract caps, alcohol exclusions, markup, FX conversion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68296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3682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Graphik"/>
              </a:rPr>
              <a:t>Follow Project Lead instructions that may override the contract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97480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Graphik"/>
              </a:rPr>
              <a:t>Flag exceptions, seek resolutions, record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371600"/>
            <a:ext cx="4297680" cy="2926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3898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Graphik"/>
              </a:rPr>
              <a:t>Scope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1709928"/>
            <a:ext cx="4297680" cy="82296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737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Graphik"/>
              </a:rPr>
              <a:t>Expenses only — not labour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02996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18180"/>
                </a:solidFill>
                <a:latin typeface="Graphik"/>
              </a:rPr>
              <a:t>Labour reconciliation is a rate-table lookup.
Expenses require document intelligence — they are where verification is most complex and error risk is highest.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00400"/>
            <a:ext cx="2788920" cy="29260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2186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Graphik"/>
              </a:rPr>
              <a:t>Manual 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353872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~27 expense transactions per cycle. Every receipt opened, every amount checked by hand.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27832" y="3200400"/>
            <a:ext cx="2788920" cy="29260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00984" y="32186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Graphik"/>
              </a:rPr>
              <a:t>Fragmented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0984" y="353872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Prior decisions in email, Teams, individual recall. No structure. Instructions contradict across cycles.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35624" y="3200400"/>
            <a:ext cx="2788920" cy="29260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8776" y="32186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Graphik"/>
              </a:rPr>
              <a:t>False CLEAN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353872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Document totals match SAP, yet contain non-reimbursable items (alcohol, personal charges) embedded inside.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raphik"/>
              </a:rPr>
              <a:t>Solution architecture — four-agent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1965960" cy="89611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822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Ingest
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097280"/>
            <a:ext cx="182880" cy="27432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106984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180"/>
                </a:solidFill>
                <a:latin typeface="Graphik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1965960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764792"/>
            <a:ext cx="18196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Loads SAP CSV,
contract, documents,
prior exceptions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804672"/>
            <a:ext cx="1965960" cy="89611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2032" y="822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Extract + Match
Validate + Classify
(Claude opus-4-8)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7" y="1097280"/>
            <a:ext cx="182880" cy="27432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7" y="106984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180"/>
                </a:solidFill>
                <a:latin typeface="Graphik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79" y="1737360"/>
            <a:ext cx="1965960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1764792"/>
            <a:ext cx="18196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Line-level doc extraction
Contract rule check
Classification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804672"/>
            <a:ext cx="1965960" cy="89611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822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Exception
triage agent
(async)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097280"/>
            <a:ext cx="182880" cy="27432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06984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180"/>
                </a:solidFill>
                <a:latin typeface="Graphik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737360"/>
            <a:ext cx="1965960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1764792"/>
            <a:ext cx="18196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Matches flags to
prior recurring
resolutions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7999" y="804672"/>
            <a:ext cx="1965960" cy="89611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1" y="822960"/>
            <a:ext cx="1819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Analyst
review
(Streamlit)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7999" y="1737360"/>
            <a:ext cx="1965960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1" y="1764792"/>
            <a:ext cx="18196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Exception queue
Pre-populated decisions
Audit trail capture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60320"/>
            <a:ext cx="4114800" cy="25603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57860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Graphik"/>
              </a:rPr>
              <a:t>Match key — how transactions link to documents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52928"/>
            <a:ext cx="4114800" cy="658368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880360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SAP note field: "Receipt: RC-001" / "Vendor invoice: VI-002" / "Mileage log: ML-001"
Pipeline parses first RC-* / VI-* / ML-* reference as the primary document link.
Amount &gt; $25 with no parseable reference is automatically flagged.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2560320"/>
            <a:ext cx="4206240" cy="2560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257860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Key architecture decisions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852928"/>
            <a:ext cx="4206240" cy="32918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28712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Separate Ingest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2871216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Add new data sources without touching downstream agents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3200400"/>
            <a:ext cx="4206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32186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Combined Classify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218688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Single Claude call with full context — less latency, better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547872"/>
            <a:ext cx="4206240" cy="32918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3566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Triage is async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566160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Classification not blocked; clean lines release immediately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895344"/>
            <a:ext cx="4206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391363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claude-opus-4-8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913631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Adaptive thinking — best-in-class for line-level doc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raphik"/>
              </a:rPr>
              <a:t>Classification scheme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2816352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5039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raphik"/>
              </a:rPr>
              <a:t>CLEAN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2816352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Amount matches receipt, no policy violation.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11095"/>
            <a:ext cx="2816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18180"/>
                </a:solidFill>
                <a:latin typeface="Graphik"/>
              </a:rPr>
              <a:t>Example: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21408"/>
            <a:ext cx="2633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0000"/>
                </a:solidFill>
                <a:latin typeface="Graphik"/>
              </a:rPr>
              <a:t>RC-001 flight outbound — SAP $412.80 matches receipt.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804672"/>
            <a:ext cx="2816352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85039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207008"/>
            <a:ext cx="2816352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23444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Policy violation, amount mismatch, or ambiguity needing analyst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1911095"/>
            <a:ext cx="2816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193852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18180"/>
                </a:solidFill>
                <a:latin typeface="Graphik"/>
              </a:rPr>
              <a:t>Example: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121408"/>
            <a:ext cx="2633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0000"/>
                </a:solidFill>
                <a:latin typeface="Graphik"/>
              </a:rPr>
              <a:t>RC-007 team dinner — alcohol embedded in receipt total.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804672"/>
            <a:ext cx="2816352" cy="38404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850392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raphik"/>
              </a:rPr>
              <a:t>EXEMPT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1207008"/>
            <a:ext cx="2816352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1234440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No receipt required by contract — per diem or under-$25 threshold.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1911095"/>
            <a:ext cx="2816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1938528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18180"/>
                </a:solidFill>
                <a:latin typeface="Graphik"/>
              </a:rPr>
              <a:t>Example: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121408"/>
            <a:ext cx="2633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0000"/>
                </a:solidFill>
                <a:latin typeface="Graphik"/>
              </a:rPr>
              <a:t>TX-0030 site parking $18.00 — under $25 threshold.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798064"/>
            <a:ext cx="2816352" cy="384048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843784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Graphik"/>
              </a:rPr>
              <a:t>MISSING_DOC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00400"/>
            <a:ext cx="2816352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22783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Document referenced in SAP note but not found in the document repository.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04487"/>
            <a:ext cx="2816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931920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18180"/>
                </a:solidFill>
                <a:latin typeface="Graphik"/>
              </a:rPr>
              <a:t>Example: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114800"/>
            <a:ext cx="2633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0000"/>
                </a:solidFill>
                <a:latin typeface="Graphik"/>
              </a:rPr>
              <a:t>RC-004, RC-005, RC-006, RC-008 to RC-011 — absent from repo.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18688" y="2798064"/>
            <a:ext cx="2816352" cy="384048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0128" y="2843784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180"/>
                </a:solidFill>
                <a:latin typeface="Graphik"/>
              </a:rPr>
              <a:t>ORPHAN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18688" y="3200400"/>
            <a:ext cx="2816352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0128" y="322783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Document exists in repository with no matching SAP transaction.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18688" y="3904487"/>
            <a:ext cx="2816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3931920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18180"/>
                </a:solidFill>
                <a:latin typeface="Graphik"/>
              </a:rPr>
              <a:t>Example: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0128" y="4114800"/>
            <a:ext cx="2633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0000"/>
                </a:solidFill>
                <a:latin typeface="Graphik"/>
              </a:rPr>
              <a:t>RC-019 Harbor Fuel Stop receipt — no SAP transaction found.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3056" y="2798064"/>
            <a:ext cx="281635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2843784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raphik"/>
              </a:rPr>
              <a:t>UNREADABLE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63056" y="3200400"/>
            <a:ext cx="2816352" cy="6858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54496" y="322783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Document cannot be parsed — corrupted scan, OCR failure, or malformed agent response.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3056" y="3904487"/>
            <a:ext cx="2816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3931920"/>
            <a:ext cx="2633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18180"/>
                </a:solidFill>
                <a:latin typeface="Graphik"/>
              </a:rPr>
              <a:t>Example: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6" y="4114800"/>
            <a:ext cx="2633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0000"/>
                </a:solidFill>
                <a:latin typeface="Graphik"/>
              </a:rPr>
              <a:t>RC-018 — image too noisy for OCR; engine returned confidence 0.21.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raphik"/>
              </a:rPr>
              <a:t>Key design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329184" cy="3291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04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804672"/>
            <a:ext cx="2450592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822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Graphik"/>
              </a:rPr>
              <a:t>Line-level extraction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841248"/>
            <a:ext cx="658368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39" y="84124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Graphik"/>
              </a:rPr>
              <a:t>Most critical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27980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179576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Documents are analysed line by line — not as a total. RC-003 hotel folio: dinner $72.40 contains $3.90 wine. RC-007 team dinner: total $126.85 contains House red x2 ($18). Both match SAP totals. Both flag as non-reimbursable only at line level.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59152"/>
            <a:ext cx="2798064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377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460073"/>
                </a:solidFill>
                <a:latin typeface="Graphik"/>
              </a:rPr>
              <a:t>Prevents false CLEAN — the biggest single failure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804672"/>
            <a:ext cx="329184" cy="3291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804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804672"/>
            <a:ext cx="2450592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822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Graphik"/>
              </a:rPr>
              <a:t>Contract as first-class input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1808" y="841248"/>
            <a:ext cx="658368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8" y="84124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Graphik"/>
              </a:rPr>
              <a:t>Every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1152144"/>
            <a:ext cx="27980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1179576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MSA-NS-2024-0418 is passed to Claude on every classification call. Detects missing 8% subcontractor markup (VI-002: $2,400 cost → $2,592 billable). Applies meal cap $90/day, lodging cap $275/$195, travel rate 50%, alcohol exclusion.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2359152"/>
            <a:ext cx="2798064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377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460073"/>
                </a:solidFill>
                <a:latin typeface="Graphik"/>
              </a:rPr>
              <a:t>No rule is applied from memory — always from the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804672"/>
            <a:ext cx="329184" cy="3291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8046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10528" y="804672"/>
            <a:ext cx="2450592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822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Graphik"/>
              </a:rPr>
              <a:t>Exception store replaces channel memory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5" y="841248"/>
            <a:ext cx="658368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5" y="84124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Graphik"/>
              </a:rPr>
              <a:t>Institutional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1152144"/>
            <a:ext cx="27980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1179576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Prior resolutions with instruction_recurring = Y are standing rules. 7 of 10 resolutions are recurring — providing the ≥55% auto-resolvable KPI. Replaces email / Teams as the source of institutional knowledge. Non-recurring resolutions are informational only.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2359152"/>
            <a:ext cx="2798064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2377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460073"/>
                </a:solidFill>
                <a:latin typeface="Graphik"/>
              </a:rPr>
              <a:t>Structured, auditable, project-scoped — not in an inbox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16352"/>
            <a:ext cx="329184" cy="3291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8163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" y="2816352"/>
            <a:ext cx="2450592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Graphik"/>
              </a:rPr>
              <a:t>Cross-project contamination guard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39" y="2852928"/>
            <a:ext cx="658368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39" y="285292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Graphik"/>
              </a:rPr>
              <a:t>Data integrity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163824"/>
            <a:ext cx="27980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3191256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EX-2026-0327 is a recurring resolution from PRJ-OTHER-9912 with different rules. Despite instruction_recurring = Y it must never apply to PRJ-NS-7421. Pipeline hard-filters prior resolutions by project_id before any Claude call.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370832"/>
            <a:ext cx="2798064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389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460073"/>
                </a:solidFill>
                <a:latin typeface="Graphik"/>
              </a:rPr>
              <a:t>Wrong-project rules silently cause billing errors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18688" y="2816352"/>
            <a:ext cx="329184" cy="3291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18688" y="28163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66160" y="2816352"/>
            <a:ext cx="2450592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39312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Graphik"/>
              </a:rPr>
              <a:t>Immutable audit trail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21808" y="2852928"/>
            <a:ext cx="658368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21808" y="285292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Graphik"/>
              </a:rPr>
              <a:t>2-year retention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18688" y="3163824"/>
            <a:ext cx="27980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0" y="3191256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Every pipeline run and analyst decision appended to audit_trail.json. Nothing deleted or overwritten. Captures: transaction ID, action, adjusted amount, analyst name, timestamp, override flag, full reasoning. Analyst must not need to re-open SAP — exception record is self-contained.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18688" y="4370832"/>
            <a:ext cx="2798064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0" y="4389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460073"/>
                </a:solidFill>
                <a:latin typeface="Graphik"/>
              </a:rPr>
              <a:t>Full traceability from SAP transaction to invoice line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63056" y="2816352"/>
            <a:ext cx="329184" cy="3291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3056" y="28163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raphik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10528" y="2816352"/>
            <a:ext cx="2450592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0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Graphik"/>
              </a:rPr>
              <a:t>SAP is the system of record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66175" y="2852928"/>
            <a:ext cx="658368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6175" y="285292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Graphik"/>
              </a:rPr>
              <a:t>Integration boundary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63056" y="3163824"/>
            <a:ext cx="2798064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36208" y="3191256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The agent integrates with SAP — it does not replace it. SAP amounts are the reference point; agent identifies discrepancies and suggests adjustments. No SAP write-backs without analyst approval. Project Lead workflow remains undisturbed.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63056" y="4370832"/>
            <a:ext cx="2798064" cy="29260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208" y="4389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460073"/>
                </a:solidFill>
                <a:latin typeface="Graphik"/>
              </a:rPr>
              <a:t>Risk-free: no unauthorised financial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raphik"/>
              </a:rPr>
              <a:t>Edge cases surfaced in the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804672"/>
            <a:ext cx="1737360" cy="2743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822960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Graphik"/>
              </a:rPr>
              <a:t>Transaction / Doc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8528" y="804672"/>
            <a:ext cx="2560320" cy="2743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82296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Graphik"/>
              </a:rPr>
              <a:t>Issue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7136" y="804672"/>
            <a:ext cx="1005840" cy="2743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82296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Graphik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1264" y="804672"/>
            <a:ext cx="3520440" cy="2743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7" y="822960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Graphik"/>
              </a:rPr>
              <a:t>Agent behaviour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097280"/>
            <a:ext cx="173736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143000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TX-0025 / RC-003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38528" y="1097280"/>
            <a:ext cx="256032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3392" y="114300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Hotel folio: dinner $72.40 contains $3.90 wine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1097280"/>
            <a:ext cx="1005840" cy="3017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133856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41264" y="1097280"/>
            <a:ext cx="352044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7" y="1143000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Alcohol line extracted — non-reimbursable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1421892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" y="1467612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TX-0029 / RC-007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38528" y="1421892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93392" y="1467612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Team dinner: SAP $46.20 vs receipt $126.85; alcohol included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7136" y="1421892"/>
            <a:ext cx="1005840" cy="3017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1458468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41264" y="1421892"/>
            <a:ext cx="35204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7" y="1467612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Prior EX-2025-0911 auto-suggests REJECT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1746504"/>
            <a:ext cx="173736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1792224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TX-0037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38528" y="1746504"/>
            <a:ext cx="256032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93392" y="1792224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Drafting supplies $67.30 — no receipt on 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7136" y="1746504"/>
            <a:ext cx="1005840" cy="3017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2" y="1783080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41264" y="1746504"/>
            <a:ext cx="352044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96127" y="1792224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Auto REJECT via EX-2025-1003 (30-day rule)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2071115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" y="2116835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TX-0040 / RC-012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38528" y="2071115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93392" y="2116835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Hotel $310 vs $195 elsewhere cap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17136" y="2071115"/>
            <a:ext cx="1005840" cy="3017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2107691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41264" y="2071115"/>
            <a:ext cx="35204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7" y="2116835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Prior EX-2025-0828 auto-approves (PL confirmed)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2395728"/>
            <a:ext cx="173736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" y="2441448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TX-0043 / RC-013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38528" y="2395728"/>
            <a:ext cx="256032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93392" y="244144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Client dinner $118 vs $90/day meal cap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17136" y="2395728"/>
            <a:ext cx="1005840" cy="3017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53712" y="2432304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41264" y="2395728"/>
            <a:ext cx="352044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96127" y="244144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PL note on file — escalate for confirmation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2720339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" y="2766059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TX-0044 / VI-002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38528" y="2720339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93392" y="2766059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Subcontractor $2,400 — 8% markup not applied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17136" y="2720339"/>
            <a:ext cx="1005840" cy="3017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53712" y="2756915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41264" y="2720339"/>
            <a:ext cx="35204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96127" y="2766059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Auto ADJUST to $2,592 via EX-2025-1129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044952"/>
            <a:ext cx="173736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4" y="3090672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TX-0048 / RC-015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38528" y="3044952"/>
            <a:ext cx="256032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93392" y="3090672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Receipt issued in CAD on a USD-billed project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17136" y="3044952"/>
            <a:ext cx="1005840" cy="3017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53712" y="3081528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41264" y="3044952"/>
            <a:ext cx="352044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96127" y="3090672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Auto ADJUST with FX note via EX-2026-0314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3369563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7744" y="3415283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TX-0050 / RC-017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38528" y="3369563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93392" y="3415283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Personal laundry $22 — non-reimbursable category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17136" y="3369563"/>
            <a:ext cx="1005840" cy="3017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53712" y="3406139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FLAG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41264" y="3369563"/>
            <a:ext cx="35204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96127" y="3415283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Personal item — contract excludes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" y="3694176"/>
            <a:ext cx="173736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7744" y="3739896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RC-019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38528" y="3694176"/>
            <a:ext cx="256032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93392" y="3739896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Harbor Fuel Stop receipt in repo, no SAP transaction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17136" y="3694176"/>
            <a:ext cx="1005840" cy="30175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53712" y="3730752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ORPHAN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41264" y="3694176"/>
            <a:ext cx="352044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96127" y="373989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Escalate: missing transaction or irrelevant doc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2880" y="4018787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7744" y="4064507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RC-004 to RC-011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38528" y="4018787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93392" y="4064507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7 receipts referenced in SAP, absent from document repo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17136" y="4018787"/>
            <a:ext cx="1005840" cy="301752"/>
          </a:xfrm>
          <a:prstGeom prst="rect">
            <a:avLst/>
          </a:prstGeom>
          <a:solidFill>
            <a:srgbClr val="818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53712" y="4055363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MISSING_DOC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41264" y="4018787"/>
            <a:ext cx="35204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96127" y="4064507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Retrieve before billing can proceed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2880" y="4343400"/>
            <a:ext cx="173736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7744" y="4389120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RC-018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38528" y="4343400"/>
            <a:ext cx="256032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93392" y="438912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Corrupted scan — OCR confidence 0.21, no readable content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17136" y="4343400"/>
            <a:ext cx="1005840" cy="3017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53712" y="4379976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UNREADABLE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41264" y="4343400"/>
            <a:ext cx="3520440" cy="30175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596127" y="4389120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Flag for analyst — do not infer amounts from noise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82880" y="4668012"/>
            <a:ext cx="173736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37744" y="4713731"/>
            <a:ext cx="16459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E-7702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38528" y="4668012"/>
            <a:ext cx="25603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993392" y="4713731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Expenses this cycle but no timecard entries in extract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17136" y="4668012"/>
            <a:ext cx="1005840" cy="30175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53712" y="4704588"/>
            <a:ext cx="950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Graphik"/>
              </a:rPr>
              <a:t>SYSTEM FLAG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541264" y="4668012"/>
            <a:ext cx="352044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596127" y="4713731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Surfaced via draft invoice — analyst must verify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raphik"/>
              </a:rPr>
              <a:t>Auto-resolvable KPI — the institutional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2286000" cy="10058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22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raphik"/>
              </a:rPr>
              <a:t>55%+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Graphik"/>
              </a:rPr>
              <a:t>of exceptions auto-resolved
without analyst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804672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Graphik"/>
              </a:rPr>
              <a:t>Target met from day one — 6 of 7 recurring prior resolutions map directly to exceptions in cycle 2026-04. No new data collection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353312"/>
            <a:ext cx="6309360" cy="36576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81328"/>
            <a:ext cx="2103120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5087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Graphik"/>
              </a:rPr>
              <a:t>EX-2025-0828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9072" y="1508760"/>
            <a:ext cx="621792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1508760"/>
            <a:ext cx="621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Graphik"/>
              </a:rPr>
              <a:t>recurring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755648"/>
            <a:ext cx="2103120" cy="23774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17739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18180"/>
                </a:solidFill>
                <a:latin typeface="Graphik"/>
              </a:rPr>
              <a:t>EXPENSE_OVERLIMIT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116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202996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Hotel over-cap at coastal site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31136"/>
            <a:ext cx="2103120" cy="23774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2249424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60073"/>
                </a:solidFill>
                <a:latin typeface="Graphik"/>
              </a:rPr>
              <a:t>APPROVE — no alternative available (PL confirmed)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1481328"/>
            <a:ext cx="2103120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15087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Graphik"/>
              </a:rPr>
              <a:t>EX-2025-0911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508760"/>
            <a:ext cx="621792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1508760"/>
            <a:ext cx="621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Graphik"/>
              </a:rPr>
              <a:t>recurring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1755648"/>
            <a:ext cx="2103120" cy="23774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42032" y="17739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18180"/>
                </a:solidFill>
                <a:latin typeface="Graphik"/>
              </a:rPr>
              <a:t>EXPENSE_DISALLOWED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7168" y="20116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42032" y="202996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Alcohol on any receipt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87168" y="2231136"/>
            <a:ext cx="2103120" cy="23774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42032" y="2249424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60073"/>
                </a:solidFill>
                <a:latin typeface="Graphik"/>
              </a:rPr>
              <a:t>REJECT — not reimbursable under any circumstance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0016" y="1481328"/>
            <a:ext cx="2103120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79" y="15087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Graphik"/>
              </a:rPr>
              <a:t>EX-2025-1003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1508760"/>
            <a:ext cx="621792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1508760"/>
            <a:ext cx="621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Graphik"/>
              </a:rPr>
              <a:t>recurring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0016" y="1755648"/>
            <a:ext cx="2103120" cy="23774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79" y="17739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18180"/>
                </a:solidFill>
                <a:latin typeface="Graphik"/>
              </a:rPr>
              <a:t>MISSING_RECEIPT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0016" y="20116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79" y="202996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Expense without receipt on file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0016" y="2231136"/>
            <a:ext cx="2103120" cy="23774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79" y="2249424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60073"/>
                </a:solidFill>
                <a:latin typeface="Graphik"/>
              </a:rPr>
              <a:t>REJECT — hold 30 days, then not billable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12864" y="1481328"/>
            <a:ext cx="2103120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7727" y="150876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Graphik"/>
              </a:rPr>
              <a:t>EX-2025-1129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7616" y="1508760"/>
            <a:ext cx="621792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7616" y="1508760"/>
            <a:ext cx="621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Graphik"/>
              </a:rPr>
              <a:t>recurring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12864" y="1755648"/>
            <a:ext cx="2103120" cy="23774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67727" y="17739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18180"/>
                </a:solidFill>
                <a:latin typeface="Graphik"/>
              </a:rPr>
              <a:t>SUBCONTRACTOR_MARKUP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12864" y="20116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67727" y="202996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Subcontractor invoice, markup absent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12864" y="2231136"/>
            <a:ext cx="2103120" cy="23774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67727" y="2249424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60073"/>
                </a:solidFill>
                <a:latin typeface="Graphik"/>
              </a:rPr>
              <a:t>ADJUST — apply 8% per MSA section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054096"/>
            <a:ext cx="2103120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" y="308152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Graphik"/>
              </a:rPr>
              <a:t>EX-2026-0203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19072" y="3081527"/>
            <a:ext cx="621792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19072" y="3081527"/>
            <a:ext cx="621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Graphik"/>
              </a:rPr>
              <a:t>recurring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328415"/>
            <a:ext cx="2103120" cy="23774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" y="3346703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18180"/>
                </a:solidFill>
                <a:latin typeface="Graphik"/>
              </a:rPr>
              <a:t>MISCODED_TIME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584448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36027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Internal time coded to client project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803904"/>
            <a:ext cx="2103120" cy="23774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" y="382219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60073"/>
                </a:solidFill>
                <a:latin typeface="Graphik"/>
              </a:rPr>
              <a:t>REMOVE — not billable to client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87168" y="3054096"/>
            <a:ext cx="2103120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42032" y="308152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Graphik"/>
              </a:rPr>
              <a:t>EX-2026-0314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31920" y="3081527"/>
            <a:ext cx="621792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0" y="3081527"/>
            <a:ext cx="621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Graphik"/>
              </a:rPr>
              <a:t>recurring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87168" y="3328415"/>
            <a:ext cx="2103120" cy="23774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42032" y="3346703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18180"/>
                </a:solidFill>
                <a:latin typeface="Graphik"/>
              </a:rPr>
              <a:t>FOREIGN_CURRENCY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87168" y="3584448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42032" y="36027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Receipt in foreign currency (CAD)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87168" y="3803904"/>
            <a:ext cx="2103120" cy="23774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42032" y="382219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60073"/>
                </a:solidFill>
                <a:latin typeface="Graphik"/>
              </a:rPr>
              <a:t>ADJUST — convert at receipt-date FX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93591" y="3054096"/>
            <a:ext cx="2103120" cy="25603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48456" y="308152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Graphik"/>
              </a:rPr>
              <a:t>EX-2025-0712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38344" y="3081527"/>
            <a:ext cx="621792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38344" y="3081527"/>
            <a:ext cx="621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Graphik"/>
              </a:rPr>
              <a:t>recurring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93591" y="3328415"/>
            <a:ext cx="2103120" cy="23774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48456" y="3346703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18180"/>
                </a:solidFill>
                <a:latin typeface="Graphik"/>
              </a:rPr>
              <a:t>RATE_OVERRIDE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93591" y="3584448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48456" y="36027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Graphik"/>
              </a:rPr>
              <a:t>Off-hours rate claimed (none exists)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93591" y="3803904"/>
            <a:ext cx="2103120" cy="23774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48456" y="3822191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460073"/>
                </a:solidFill>
                <a:latin typeface="Graphik"/>
              </a:rPr>
              <a:t>BILL at standard role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raphik"/>
              </a:rPr>
              <a:t>What was built — technical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4114800" cy="2743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Graphik"/>
              </a:rPr>
              <a:t>Technical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15568"/>
            <a:ext cx="4114800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7043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60073"/>
                </a:solidFill>
                <a:latin typeface="Graphik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17043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Python 3.9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4114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1790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60073"/>
                </a:solidFill>
                <a:latin typeface="Graphik"/>
              </a:rPr>
              <a:t>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51790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Streamlit 1.50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10512"/>
            <a:ext cx="4114800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8653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60073"/>
                </a:solidFill>
                <a:latin typeface="Graphik"/>
              </a:rPr>
              <a:t>AI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86537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claude-opus-4-8 · adaptive thinking · streaming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57984"/>
            <a:ext cx="4114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21284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60073"/>
                </a:solidFill>
                <a:latin typeface="Graphik"/>
              </a:rPr>
              <a:t>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21284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Anthropic Python SDK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05456"/>
            <a:ext cx="4114800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56032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60073"/>
                </a:solidFill>
                <a:latin typeface="Graphik"/>
              </a:rPr>
              <a:t>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56032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JSON files — results, decisions, audit trail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52928"/>
            <a:ext cx="4114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90779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60073"/>
                </a:solidFill>
                <a:latin typeface="Graphik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907792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Synthetic dataset — shared/appendix-sample-data/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00400"/>
            <a:ext cx="4114800" cy="329184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2552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60073"/>
                </a:solidFill>
                <a:latin typeface="Graphik"/>
              </a:rPr>
              <a:t>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255264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37 tests · unittest + mock · custom runner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804672"/>
            <a:ext cx="4160520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822960"/>
            <a:ext cx="3977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Graphik"/>
              </a:rPr>
              <a:t>Files delivered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1115568"/>
            <a:ext cx="4160520" cy="32918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117043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app.py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17043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Streamlit UI — Dashboard, Exception Queue, All Transactions, Audit Trail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463040"/>
            <a:ext cx="4160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151790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pipeline.py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51790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3-agent pipeline: Ingest, Classify (Claude), Triage (async)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1810512"/>
            <a:ext cx="4160520" cy="32918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186537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data_loader.py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1865376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SAP CSV, contract, 15 backup documents, 10 prior exceptions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2157984"/>
            <a:ext cx="4160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221284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test_pipeline.py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2212848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37 automated tests — data loading, rule-based, mocked Claude, state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2505456"/>
            <a:ext cx="4160520" cy="32918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256032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requirements.txt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2560320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anthropic · streamlit · pandas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2852928"/>
            <a:ext cx="4160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290779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SOLUTION-SUMMARY.md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2907792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Full design rationale and decision log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200400"/>
            <a:ext cx="4160520" cy="32918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32552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RDE-PLAYBOOK-OUTPUT.md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255264"/>
            <a:ext cx="25420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Structured output mapped to 6 RDE playbook phases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553712"/>
            <a:ext cx="854964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590288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Run:  cd pod1  |  export ANTHROPIC_API_KEY=...  |  streamlit run app.py  →  http://localhost:8501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82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Graphik"/>
              </a:rPr>
              <a:t>Summary — what the prototype proves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804672"/>
            <a:ext cx="2816352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832104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Agent classifies accurately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816352" cy="80467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124712"/>
            <a:ext cx="26883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Claude correctly identifies alcohol embedded in RC-003 and RC-007. Flags missing 8% markup in VI-002. Surfaces RC-019 orphan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804672"/>
            <a:ext cx="2816352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832104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55%+ auto-resolvable KPI met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097280"/>
            <a:ext cx="2816352" cy="80467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124712"/>
            <a:ext cx="26883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6 of 7 recurring resolutions map directly to exceptions in this cycle. No new data collection required before the first run.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804672"/>
            <a:ext cx="2816352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832104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False CLEAN rate: zero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097280"/>
            <a:ext cx="2816352" cy="80467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124712"/>
            <a:ext cx="26883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Line-level extraction catches non-reimbursable items that total-level checks miss. The biggest single failure mode is eliminated by design.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87168"/>
            <a:ext cx="4224528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514600"/>
            <a:ext cx="4096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Human stays in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79776"/>
            <a:ext cx="4224528" cy="80467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807208"/>
            <a:ext cx="40965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Every classification is a suggestion. Analyst confirms or overrides. Every decision is logged immutably. No SAP write-back without approval.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2487168"/>
            <a:ext cx="4224528" cy="274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2514600"/>
            <a:ext cx="4096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Graphik"/>
              </a:rPr>
              <a:t>Architecture generalises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59" y="2779776"/>
            <a:ext cx="4224528" cy="804672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2807208"/>
            <a:ext cx="40965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Graphik"/>
              </a:rPr>
              <a:t>Swap the Ingest agent's data source to add a new project. Classify and Triage agents are untouched. Labour and multi-project batch are additive — no redesign required.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13632"/>
            <a:ext cx="8549640" cy="274320"/>
          </a:xfrm>
          <a:prstGeom prst="rect">
            <a:avLst/>
          </a:prstGeom>
          <a:solidFill>
            <a:srgbClr val="818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319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Graphik"/>
              </a:rPr>
              <a:t>Constraints respected: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93192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raphik"/>
              </a:rPr>
              <a:t>  Synthetic data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2" y="393192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raphik"/>
              </a:rPr>
              <a:t>  SAP = system of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58383" y="393192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raphik"/>
              </a:rPr>
              <a:t>  No SAP write-backs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3931920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Graphik"/>
              </a:rPr>
              <a:t>  Project Lead workflow undisturbed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251960"/>
            <a:ext cx="8549640" cy="603504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2702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60073"/>
                </a:solidFill>
                <a:latin typeface="Graphik"/>
              </a:rPr>
              <a:t>Bug found and fixed during sprint: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47141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Graphik"/>
              </a:rPr>
              <a:t>Pipeline Error: 'classification'  —  max_tokens=2048 caused adaptive thinking to exhaust the token budget; Claude JSON output was truncated; KeyError on missing key. Fixed: raised to 8192, added explicit guard after JSON parse, changed r["classification"] to r.get("classification").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